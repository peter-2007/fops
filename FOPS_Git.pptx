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F6685B-28AD-6A86-7DA6-D6D725FF40A4}" v="20" dt="2024-10-21T17:11:53.299"/>
    <p1510:client id="{89AFED0A-C672-3FD0-B4E8-FE1C8A8A6CBB}" v="11" dt="2024-10-21T17:08:45.737"/>
    <p1510:client id="{13D068F5-38B1-9FAB-857E-EF01EB6C97ED}" v="29" dt="2024-10-21T17:28:25.495"/>
    <p1510:client id="{50052912-925E-830A-F533-F27F887840A6}" v="756" dt="2024-10-21T17:04:08.217"/>
    <p1510:client id="{548DDE2A-AFBB-7014-6A00-FACAA2E58FC7}" v="87" dt="2024-10-21T17:17:09.928"/>
    <p1510:client id="{6CF9AD3C-433C-1848-9998-91B31793A4B4}" v="139" dt="2024-10-21T16:24:12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  <a:solidFill>
            <a:schemeClr val="accent2"/>
          </a:solidFill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 userDrawn="1"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 userDrawn="1"/>
        </p:nvGrpSpPr>
        <p:grpSpPr>
          <a:xfrm>
            <a:off x="765219" y="136960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grpSp>
        <p:nvGrpSpPr>
          <p:cNvPr id="33" name="Group 58">
            <a:extLst>
              <a:ext uri="{FF2B5EF4-FFF2-40B4-BE49-F238E27FC236}">
                <a16:creationId xmlns:a16="http://schemas.microsoft.com/office/drawing/2014/main" id="{1B7E3183-94F6-44E5-8C86-7F871EE0AFFF}"/>
              </a:ext>
            </a:extLst>
          </p:cNvPr>
          <p:cNvGrpSpPr/>
          <p:nvPr userDrawn="1"/>
        </p:nvGrpSpPr>
        <p:grpSpPr>
          <a:xfrm>
            <a:off x="749299" y="188185"/>
            <a:ext cx="3674476" cy="3470421"/>
            <a:chOff x="697883" y="1816768"/>
            <a:chExt cx="3674476" cy="3470421"/>
          </a:xfrm>
          <a:solidFill>
            <a:schemeClr val="accent2"/>
          </a:solidFill>
        </p:grpSpPr>
        <p:sp>
          <p:nvSpPr>
            <p:cNvPr id="34" name="Rectangle 59">
              <a:extLst>
                <a:ext uri="{FF2B5EF4-FFF2-40B4-BE49-F238E27FC236}">
                  <a16:creationId xmlns:a16="http://schemas.microsoft.com/office/drawing/2014/main" id="{7C02BAEF-95EE-4A07-A1A8-8FEC1BDEE0FF}"/>
                </a:ext>
              </a:extLst>
            </p:cNvPr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22">
              <a:extLst>
                <a:ext uri="{FF2B5EF4-FFF2-40B4-BE49-F238E27FC236}">
                  <a16:creationId xmlns:a16="http://schemas.microsoft.com/office/drawing/2014/main" id="{3474D27C-D5EB-4108-862E-414A8511F546}"/>
                </a:ext>
              </a:extLst>
            </p:cNvPr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1BB96CC6-00ED-4209-8D74-63267800272A}"/>
                </a:ext>
              </a:extLst>
            </p:cNvPr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FE3465A-4E67-4919-8F68-D0DA92C33C17}"/>
              </a:ext>
            </a:extLst>
          </p:cNvPr>
          <p:cNvSpPr txBox="1">
            <a:spLocks/>
          </p:cNvSpPr>
          <p:nvPr userDrawn="1"/>
        </p:nvSpPr>
        <p:spPr>
          <a:xfrm>
            <a:off x="854075" y="777040"/>
            <a:ext cx="3500828" cy="2470065"/>
          </a:xfrm>
          <a:prstGeom prst="rect">
            <a:avLst/>
          </a:prstGeom>
        </p:spPr>
        <p:txBody>
          <a:bodyPr vert="horz" lIns="91440" tIns="91440" rIns="91440" bIns="91440" rtlCol="0" anchor="ctr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rgbClr val="FFFEFF"/>
                </a:solidFill>
                <a:effectLst/>
                <a:latin typeface="Bahnschrift SemiBold" panose="020B0502040204020203" pitchFamily="34" charset="0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836123" y="825884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  <a:gradFill>
            <a:gsLst>
              <a:gs pos="0">
                <a:schemeClr val="bg1"/>
              </a:gs>
              <a:gs pos="25000">
                <a:schemeClr val="accent2">
                  <a:lumMod val="95000"/>
                  <a:lumOff val="5000"/>
                </a:schemeClr>
              </a:gs>
              <a:gs pos="100000">
                <a:schemeClr val="accent2"/>
              </a:gs>
            </a:gsLst>
            <a:lin ang="16200000" scaled="1"/>
          </a:gradFill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513212" y="245543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  <a:gradFill>
            <a:gsLst>
              <a:gs pos="0">
                <a:schemeClr val="bg1"/>
              </a:gs>
              <a:gs pos="35000">
                <a:schemeClr val="accent2">
                  <a:lumMod val="95000"/>
                  <a:lumOff val="5000"/>
                </a:schemeClr>
              </a:gs>
              <a:gs pos="100000">
                <a:schemeClr val="accent2"/>
              </a:gs>
            </a:gsLst>
            <a:lin ang="16200000" scaled="1"/>
          </a:gradFill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  <a:solidFill>
            <a:schemeClr val="accent2"/>
          </a:solidFill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  <a:solidFill>
            <a:schemeClr val="accent2"/>
          </a:solidFill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  <a:solidFill>
            <a:schemeClr val="accent2"/>
          </a:solidFill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  <a:solidFill>
            <a:schemeClr val="accent2"/>
          </a:solidFill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  <a:solidFill>
            <a:schemeClr val="accent2"/>
          </a:solidFill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bg>
      <p:bgPr>
        <a:blipFill dpi="0" rotWithShape="1">
          <a:blip r:embed="rId2">
            <a:lum/>
          </a:blip>
          <a:srcRect/>
          <a:stretch>
            <a:fillRect t="-69000" b="-6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-4572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  <a:gradFill>
            <a:gsLst>
              <a:gs pos="13000">
                <a:schemeClr val="bg1"/>
              </a:gs>
              <a:gs pos="52000">
                <a:schemeClr val="accent2">
                  <a:lumMod val="95000"/>
                  <a:lumOff val="5000"/>
                </a:schemeClr>
              </a:gs>
              <a:gs pos="100000">
                <a:schemeClr val="accent2"/>
              </a:gs>
            </a:gsLst>
            <a:lin ang="16200000" scaled="1"/>
          </a:gradFill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  <a:solidFill>
            <a:schemeClr val="accent2"/>
          </a:solidFill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1" name="Gondolatbuborék: felhő 10">
            <a:extLst>
              <a:ext uri="{FF2B5EF4-FFF2-40B4-BE49-F238E27FC236}">
                <a16:creationId xmlns:a16="http://schemas.microsoft.com/office/drawing/2014/main" id="{1B0889FE-7A7E-4E3C-86DC-96BD8DDF92A7}"/>
              </a:ext>
            </a:extLst>
          </p:cNvPr>
          <p:cNvSpPr/>
          <p:nvPr userDrawn="1"/>
        </p:nvSpPr>
        <p:spPr>
          <a:xfrm>
            <a:off x="620712" y="1606694"/>
            <a:ext cx="4287838" cy="2892985"/>
          </a:xfrm>
          <a:prstGeom prst="cloudCallou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s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DAA23C91-602B-4D58-A3A3-BCC088E19DF7}"/>
              </a:ext>
            </a:extLst>
          </p:cNvPr>
          <p:cNvSpPr txBox="1"/>
          <p:nvPr userDrawn="1"/>
        </p:nvSpPr>
        <p:spPr>
          <a:xfrm>
            <a:off x="1919288" y="2638425"/>
            <a:ext cx="1262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pénz</a:t>
            </a:r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bg2"/>
          </a:solidFill>
          <a:effectLst/>
          <a:latin typeface="Bahnschrift SemiBold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bg2"/>
          </a:solidFill>
          <a:effectLst/>
          <a:latin typeface="Bahnschrift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bg2"/>
          </a:solidFill>
          <a:effectLst/>
          <a:latin typeface="Bahnschrift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bg2"/>
          </a:solidFill>
          <a:effectLst/>
          <a:latin typeface="Bahnschrift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bg2"/>
          </a:solidFill>
          <a:effectLst/>
          <a:latin typeface="Bahnschrift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bg2"/>
          </a:solidFill>
          <a:effectLst/>
          <a:latin typeface="Bahnschrift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bg2"/>
          </a:solidFill>
          <a:effectLst/>
          <a:latin typeface="Bahnschrift" panose="020B0502040204020203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bg2"/>
          </a:solidFill>
          <a:effectLst/>
          <a:latin typeface="Bahnschrift" panose="020B0502040204020203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bg2"/>
          </a:solidFill>
          <a:effectLst/>
          <a:latin typeface="Bahnschrift" panose="020B0502040204020203" pitchFamily="34" charset="0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bg2"/>
          </a:solidFill>
          <a:effectLst/>
          <a:latin typeface="Bahnschrift" panose="020B0502040204020203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git/git_getstarted.asp" TargetMode="External"/><Relationship Id="rId2" Type="http://schemas.openxmlformats.org/officeDocument/2006/relationships/hyperlink" Target="https://hu.wikipedia.org/wiki/Linus_Torvalds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04FEF3-B4D9-466A-AB54-3FC437C177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Git</a:t>
            </a:r>
            <a:r>
              <a:rPr lang="hu-HU"/>
              <a:t> használata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8DEC22A-A188-4CE2-8C04-CFA16B2945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/>
              <a:t>Készítette: FOPS Team</a:t>
            </a:r>
          </a:p>
        </p:txBody>
      </p:sp>
    </p:spTree>
    <p:extLst>
      <p:ext uri="{BB962C8B-B14F-4D97-AF65-F5344CB8AC3E}">
        <p14:creationId xmlns:p14="http://schemas.microsoft.com/office/powerpoint/2010/main" val="4212424680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talom helye 1"/>
          <p:cNvSpPr>
            <a:spLocks noGrp="1"/>
          </p:cNvSpPr>
          <p:nvPr>
            <p:ph idx="1"/>
          </p:nvPr>
        </p:nvSpPr>
        <p:spPr>
          <a:xfrm>
            <a:off x="4971909" y="519878"/>
            <a:ext cx="6281873" cy="3070084"/>
          </a:xfrm>
        </p:spPr>
        <p:txBody>
          <a:bodyPr>
            <a:normAutofit/>
          </a:bodyPr>
          <a:lstStyle/>
          <a:p>
            <a:r>
              <a:rPr lang="hu-HU" sz="3200"/>
              <a:t>Egy nyílt forráskódú verziókezelő szoftver</a:t>
            </a:r>
          </a:p>
          <a:p>
            <a:r>
              <a:rPr lang="hu-HU" sz="3200"/>
              <a:t>Eredeti fejlesztője Linus </a:t>
            </a:r>
            <a:r>
              <a:rPr lang="hu-HU" sz="3200" err="1"/>
              <a:t>Torvalds</a:t>
            </a:r>
            <a:endParaRPr lang="hu-HU" sz="3200"/>
          </a:p>
        </p:txBody>
      </p:sp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 az a </a:t>
            </a:r>
            <a:r>
              <a:rPr lang="hu-HU" err="1"/>
              <a:t>Git</a:t>
            </a:r>
            <a:r>
              <a:rPr lang="hu-HU"/>
              <a:t>?</a:t>
            </a:r>
          </a:p>
        </p:txBody>
      </p:sp>
      <p:pic>
        <p:nvPicPr>
          <p:cNvPr id="1030" name="Picture 6" descr="undefi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496" y="3760508"/>
            <a:ext cx="2070082" cy="2880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/>
          <p:cNvSpPr txBox="1"/>
          <p:nvPr/>
        </p:nvSpPr>
        <p:spPr>
          <a:xfrm>
            <a:off x="3699732" y="4877342"/>
            <a:ext cx="1276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>
                <a:solidFill>
                  <a:schemeClr val="bg1"/>
                </a:solidFill>
                <a:latin typeface="Bahnschrift" panose="020B0502040204020203" pitchFamily="34" charset="0"/>
              </a:rPr>
              <a:t>Linus </a:t>
            </a:r>
            <a:r>
              <a:rPr lang="hu-HU" err="1">
                <a:solidFill>
                  <a:schemeClr val="bg1"/>
                </a:solidFill>
                <a:latin typeface="Bahnschrift" panose="020B0502040204020203" pitchFamily="34" charset="0"/>
              </a:rPr>
              <a:t>Torvalds</a:t>
            </a:r>
            <a:endParaRPr lang="hu-HU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36662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350900" y="2235151"/>
            <a:ext cx="5490224" cy="1689390"/>
          </a:xfrm>
        </p:spPr>
        <p:txBody>
          <a:bodyPr/>
          <a:lstStyle/>
          <a:p>
            <a:r>
              <a:rPr lang="hu-HU"/>
              <a:t>Alapfogalmak</a:t>
            </a:r>
          </a:p>
        </p:txBody>
      </p:sp>
    </p:spTree>
    <p:extLst>
      <p:ext uri="{BB962C8B-B14F-4D97-AF65-F5344CB8AC3E}">
        <p14:creationId xmlns:p14="http://schemas.microsoft.com/office/powerpoint/2010/main" val="2687353495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400" err="1">
                <a:latin typeface="Bahnschrift SemiBold"/>
              </a:rPr>
              <a:t>Repository</a:t>
            </a:r>
            <a:endParaRPr lang="hu-HU" sz="4400">
              <a:latin typeface="Bahnschrift SemiBold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18948" y="865561"/>
            <a:ext cx="6292964" cy="3869377"/>
          </a:xfrm>
        </p:spPr>
        <p:txBody>
          <a:bodyPr>
            <a:normAutofit/>
          </a:bodyPr>
          <a:lstStyle/>
          <a:p>
            <a:r>
              <a:rPr lang="hu-HU" sz="3200">
                <a:latin typeface="Bahnschrift"/>
              </a:rPr>
              <a:t>A projekt fájljaival és verziótörténetével rendelkező mappa</a:t>
            </a:r>
          </a:p>
          <a:p>
            <a:r>
              <a:rPr lang="hu-HU" sz="3200">
                <a:latin typeface="Bahnschrift"/>
              </a:rPr>
              <a:t>Egy könyvtárat a "</a:t>
            </a:r>
            <a:r>
              <a:rPr lang="hu-HU" sz="3200" err="1">
                <a:latin typeface="Bahnschrift"/>
              </a:rPr>
              <a:t>git</a:t>
            </a:r>
            <a:r>
              <a:rPr lang="hu-HU" sz="3200">
                <a:latin typeface="Bahnschrift"/>
              </a:rPr>
              <a:t> </a:t>
            </a:r>
            <a:r>
              <a:rPr lang="hu-HU" sz="3200" err="1">
                <a:latin typeface="Bahnschrift"/>
              </a:rPr>
              <a:t>init</a:t>
            </a:r>
            <a:r>
              <a:rPr lang="hu-HU" sz="3200">
                <a:latin typeface="Bahnschrift"/>
              </a:rPr>
              <a:t> [név]" </a:t>
            </a:r>
            <a:r>
              <a:rPr lang="hu-HU" sz="3200" err="1">
                <a:latin typeface="Bahnschrift"/>
              </a:rPr>
              <a:t>parancsal</a:t>
            </a:r>
            <a:r>
              <a:rPr lang="hu-HU" sz="3200">
                <a:latin typeface="Bahnschrift"/>
              </a:rPr>
              <a:t> lehet létrehozni</a:t>
            </a:r>
            <a:endParaRPr lang="hu-HU" sz="320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3200">
                <a:latin typeface="Bahnschrift"/>
              </a:rPr>
              <a:t>Könyvtár</a:t>
            </a:r>
          </a:p>
        </p:txBody>
      </p:sp>
      <p:pic>
        <p:nvPicPr>
          <p:cNvPr id="6" name="Kép 5" descr="A képen szöveg, képernyőkép, Betűtípus, sor látható&#10;&#10;Automatikusan generált leírás">
            <a:extLst>
              <a:ext uri="{FF2B5EF4-FFF2-40B4-BE49-F238E27FC236}">
                <a16:creationId xmlns:a16="http://schemas.microsoft.com/office/drawing/2014/main" id="{9D71660F-7D2B-4BF1-2C7B-E89DD4B56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460" y="4794538"/>
            <a:ext cx="6635833" cy="100965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569865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1296C9-DC8F-6D5A-505C-105A0C5D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400" err="1">
                <a:latin typeface="Bahnschrift SemiBold"/>
              </a:rPr>
              <a:t>Commit</a:t>
            </a:r>
            <a:endParaRPr lang="hu-HU" sz="4400" err="1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C2DEEA-D873-B184-957B-35A7097D4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944" y="802809"/>
            <a:ext cx="6275035" cy="170713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hu-HU" sz="3200">
                <a:latin typeface="Bahnschrift"/>
              </a:rPr>
              <a:t>Egy konkrét fájl hozzáadása:</a:t>
            </a:r>
            <a:endParaRPr lang="hu-HU"/>
          </a:p>
          <a:p>
            <a:endParaRPr lang="hu-HU" sz="3200"/>
          </a:p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534DE23-E6DB-D9FF-AE2B-8DED38F88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3200">
                <a:latin typeface="Bahnschrift"/>
              </a:rPr>
              <a:t>Rögzítés</a:t>
            </a:r>
            <a:endParaRPr lang="hu-HU" sz="320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93F2585-96DC-8F75-53E5-23FEEED5A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621" y="1663041"/>
            <a:ext cx="2789669" cy="6906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5AEBEB6-8166-F035-F0C0-F8672C3D0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841" y="4652412"/>
            <a:ext cx="3840349" cy="7007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EC4634E0-D85B-DF4D-F064-0D6E93ABC254}"/>
              </a:ext>
            </a:extLst>
          </p:cNvPr>
          <p:cNvSpPr txBox="1"/>
          <p:nvPr/>
        </p:nvSpPr>
        <p:spPr>
          <a:xfrm>
            <a:off x="5205350" y="2513609"/>
            <a:ext cx="6462155" cy="21421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hu-HU" sz="3200" err="1">
                <a:solidFill>
                  <a:schemeClr val="bg2"/>
                </a:solidFill>
                <a:latin typeface="Bahnschrift"/>
              </a:rPr>
              <a:t>Commitolás</a:t>
            </a:r>
            <a:r>
              <a:rPr lang="hu-HU" sz="3200">
                <a:solidFill>
                  <a:schemeClr val="bg2"/>
                </a:solidFill>
                <a:latin typeface="Bahnschrift"/>
              </a:rPr>
              <a:t>: Miután a változtatásokat hozzáadtad, </a:t>
            </a:r>
            <a:r>
              <a:rPr lang="hu-HU" sz="3200" err="1">
                <a:solidFill>
                  <a:schemeClr val="bg2"/>
                </a:solidFill>
                <a:latin typeface="Bahnschrift"/>
              </a:rPr>
              <a:t>commitolhatod</a:t>
            </a:r>
            <a:r>
              <a:rPr lang="hu-HU" sz="3200">
                <a:solidFill>
                  <a:schemeClr val="bg2"/>
                </a:solidFill>
                <a:latin typeface="Bahnschrift"/>
              </a:rPr>
              <a:t> őket egy üzenettel.</a:t>
            </a:r>
            <a:endParaRPr lang="en-US" sz="3200">
              <a:solidFill>
                <a:schemeClr val="bg2"/>
              </a:solidFill>
              <a:latin typeface="Bahnschrift"/>
            </a:endParaRPr>
          </a:p>
          <a:p>
            <a:pPr algn="l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255883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77722A-EC43-8CBC-09DA-2598D9F96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400" err="1">
                <a:latin typeface="Bahnschrift SemiBold"/>
              </a:rPr>
              <a:t>Branch</a:t>
            </a:r>
            <a:r>
              <a:rPr lang="hu-HU" sz="4400">
                <a:latin typeface="Bahnschrift SemiBold"/>
              </a:rPr>
              <a:t> I.</a:t>
            </a:r>
            <a:endParaRPr lang="hu-HU" err="1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396B7E-FE12-B074-41B8-52F0D728A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983" y="837064"/>
            <a:ext cx="6275035" cy="335924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z="3200">
                <a:latin typeface="Bahnschrift"/>
              </a:rPr>
              <a:t>Egy ág az alap (helyi) könyvtár egy másik, különböző verziója</a:t>
            </a:r>
          </a:p>
          <a:p>
            <a:r>
              <a:rPr lang="hu-HU" sz="3200">
                <a:latin typeface="Bahnschrift"/>
              </a:rPr>
              <a:t>Parancs: "</a:t>
            </a:r>
            <a:r>
              <a:rPr lang="hu-HU" sz="3200" err="1">
                <a:latin typeface="Bahnschrift"/>
              </a:rPr>
              <a:t>git</a:t>
            </a:r>
            <a:r>
              <a:rPr lang="hu-HU" sz="3200">
                <a:latin typeface="Bahnschrift"/>
              </a:rPr>
              <a:t> </a:t>
            </a:r>
            <a:r>
              <a:rPr lang="hu-HU" sz="3200" err="1">
                <a:latin typeface="Bahnschrift"/>
              </a:rPr>
              <a:t>branch</a:t>
            </a:r>
            <a:r>
              <a:rPr lang="hu-HU" sz="3200">
                <a:latin typeface="Bahnschrift"/>
              </a:rPr>
              <a:t> [név]"</a:t>
            </a:r>
            <a:endParaRPr lang="hu-HU" sz="320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E949E2C-9989-A5CA-D52E-7F4638AEA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3200">
                <a:latin typeface="Bahnschrift"/>
              </a:rPr>
              <a:t>Ág</a:t>
            </a:r>
            <a:endParaRPr lang="hu-HU"/>
          </a:p>
        </p:txBody>
      </p:sp>
      <p:pic>
        <p:nvPicPr>
          <p:cNvPr id="5" name="Kép 4" descr="A képen szöveg, képernyőkép, Betűtípus látható&#10;&#10;Automatikusan generált leírás">
            <a:extLst>
              <a:ext uri="{FF2B5EF4-FFF2-40B4-BE49-F238E27FC236}">
                <a16:creationId xmlns:a16="http://schemas.microsoft.com/office/drawing/2014/main" id="{DA710F1C-B578-985A-A2EB-05E7FC865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35" r="173" b="-877"/>
          <a:stretch/>
        </p:blipFill>
        <p:spPr>
          <a:xfrm>
            <a:off x="5402069" y="4307803"/>
            <a:ext cx="5690400" cy="98508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107392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77722A-EC43-8CBC-09DA-2598D9F96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400" err="1">
                <a:latin typeface="Bahnschrift SemiBold"/>
              </a:rPr>
              <a:t>Branch</a:t>
            </a:r>
            <a:r>
              <a:rPr lang="hu-HU" sz="4400">
                <a:latin typeface="Bahnschrift SemiBold"/>
              </a:rPr>
              <a:t> II.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396B7E-FE12-B074-41B8-52F0D728A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983" y="451117"/>
            <a:ext cx="6275035" cy="3794670"/>
          </a:xfrm>
        </p:spPr>
        <p:txBody>
          <a:bodyPr>
            <a:normAutofit/>
          </a:bodyPr>
          <a:lstStyle/>
          <a:p>
            <a:r>
              <a:rPr lang="hu-HU" sz="3200">
                <a:latin typeface="Bahnschrift"/>
              </a:rPr>
              <a:t>Egy ág belépéséhez a "</a:t>
            </a:r>
            <a:r>
              <a:rPr lang="hu-HU" sz="3200" err="1">
                <a:latin typeface="Bahnschrift"/>
              </a:rPr>
              <a:t>git</a:t>
            </a:r>
            <a:r>
              <a:rPr lang="hu-HU" sz="3200">
                <a:latin typeface="Bahnschrift"/>
              </a:rPr>
              <a:t> </a:t>
            </a:r>
            <a:r>
              <a:rPr lang="hu-HU" sz="3200" err="1">
                <a:latin typeface="Bahnschrift"/>
              </a:rPr>
              <a:t>checkout</a:t>
            </a:r>
            <a:r>
              <a:rPr lang="hu-HU" sz="3200">
                <a:latin typeface="Bahnschrift"/>
              </a:rPr>
              <a:t> [név]" parancs szükséges</a:t>
            </a:r>
            <a:endParaRPr lang="hu-HU" sz="320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E949E2C-9989-A5CA-D52E-7F4638AEA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3200">
                <a:latin typeface="Bahnschrift"/>
              </a:rPr>
              <a:t>Lépés ágak között</a:t>
            </a:r>
            <a:endParaRPr lang="hu-HU" sz="3200"/>
          </a:p>
        </p:txBody>
      </p:sp>
      <p:pic>
        <p:nvPicPr>
          <p:cNvPr id="6" name="Kép 5" descr="A képen szöveg, képernyőkép, Betűtípus, sor látható&#10;&#10;Automatikusan generált leírás">
            <a:extLst>
              <a:ext uri="{FF2B5EF4-FFF2-40B4-BE49-F238E27FC236}">
                <a16:creationId xmlns:a16="http://schemas.microsoft.com/office/drawing/2014/main" id="{69370207-4487-344D-1DB7-4BDD0DAC9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140" y="3763597"/>
            <a:ext cx="6268182" cy="121626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895967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350900" y="2235151"/>
            <a:ext cx="5490224" cy="1689390"/>
          </a:xfrm>
        </p:spPr>
        <p:txBody>
          <a:bodyPr/>
          <a:lstStyle/>
          <a:p>
            <a:r>
              <a:rPr lang="hu-HU">
                <a:latin typeface="Bahnschrift SemiBold"/>
              </a:rPr>
              <a:t>További parancsok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11510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77722A-EC43-8CBC-09DA-2598D9F96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400" err="1">
                <a:latin typeface="Bahnschrift SemiBold"/>
              </a:rPr>
              <a:t>Clone</a:t>
            </a:r>
            <a:endParaRPr lang="hu-HU" sz="4400" err="1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396B7E-FE12-B074-41B8-52F0D728A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983" y="451117"/>
            <a:ext cx="6275035" cy="3794670"/>
          </a:xfrm>
        </p:spPr>
        <p:txBody>
          <a:bodyPr>
            <a:normAutofit/>
          </a:bodyPr>
          <a:lstStyle/>
          <a:p>
            <a:r>
              <a:rPr lang="hu-HU" sz="3200">
                <a:latin typeface="Bahnschrift"/>
              </a:rPr>
              <a:t>Más könyvtárakat le lehet tölteni URL-t használva</a:t>
            </a:r>
          </a:p>
          <a:p>
            <a:r>
              <a:rPr lang="hu-HU" sz="3200">
                <a:latin typeface="Bahnschrift"/>
              </a:rPr>
              <a:t>Parancs: "</a:t>
            </a:r>
            <a:r>
              <a:rPr lang="hu-HU" sz="3200" err="1">
                <a:latin typeface="Bahnschrift"/>
              </a:rPr>
              <a:t>git</a:t>
            </a:r>
            <a:r>
              <a:rPr lang="hu-HU" sz="3200">
                <a:latin typeface="Bahnschrift"/>
              </a:rPr>
              <a:t> </a:t>
            </a:r>
            <a:r>
              <a:rPr lang="hu-HU" sz="3200" err="1">
                <a:latin typeface="Bahnschrift"/>
              </a:rPr>
              <a:t>clone</a:t>
            </a:r>
            <a:r>
              <a:rPr lang="hu-HU" sz="3200">
                <a:latin typeface="Bahnschrift"/>
              </a:rPr>
              <a:t> [</a:t>
            </a:r>
            <a:r>
              <a:rPr lang="hu-HU" sz="3200" err="1">
                <a:latin typeface="Bahnschrift"/>
              </a:rPr>
              <a:t>url</a:t>
            </a:r>
            <a:r>
              <a:rPr lang="hu-HU" sz="3200">
                <a:latin typeface="Bahnschrift"/>
              </a:rPr>
              <a:t>]"</a:t>
            </a:r>
            <a:endParaRPr lang="hu-HU" sz="3200"/>
          </a:p>
          <a:p>
            <a:endParaRPr lang="hu-HU" sz="320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E949E2C-9989-A5CA-D52E-7F4638AEA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3200">
                <a:latin typeface="Bahnschrift"/>
              </a:rPr>
              <a:t>Klónozás, másolás</a:t>
            </a:r>
            <a:endParaRPr lang="hu-HU"/>
          </a:p>
        </p:txBody>
      </p:sp>
      <p:pic>
        <p:nvPicPr>
          <p:cNvPr id="5" name="Kép 4" descr="A képen szöveg, elektronika, képernyőkép, szoftver látható&#10;&#10;Automatikusan generált leírás">
            <a:extLst>
              <a:ext uri="{FF2B5EF4-FFF2-40B4-BE49-F238E27FC236}">
                <a16:creationId xmlns:a16="http://schemas.microsoft.com/office/drawing/2014/main" id="{ABC2E97A-A411-0995-8814-AB728F34B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866" y="3433275"/>
            <a:ext cx="6890728" cy="209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7127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E06A5C-0110-55E8-AD49-97C64712A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2760774"/>
            <a:ext cx="3500828" cy="1327065"/>
          </a:xfrm>
        </p:spPr>
        <p:txBody>
          <a:bodyPr/>
          <a:lstStyle/>
          <a:p>
            <a:r>
              <a:rPr lang="hu-HU" sz="4400" err="1">
                <a:latin typeface="Bahnschrift SemiBold"/>
              </a:rPr>
              <a:t>Merge</a:t>
            </a:r>
            <a:r>
              <a:rPr lang="hu-HU">
                <a:latin typeface="Bahnschrift SemiBold"/>
              </a:rPr>
              <a:t> </a:t>
            </a:r>
            <a:endParaRPr lang="hu-HU" b="1">
              <a:latin typeface="Bahnschrift SemiBold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8D93351-362F-7932-5F1B-70EE4B8F4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75930" y="2099924"/>
            <a:ext cx="5053065" cy="13265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3200">
                <a:latin typeface="Bahnschrift"/>
              </a:rPr>
              <a:t>Az ágakat összevonhatod a fő (main) ággal: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9CA5C37-DE1E-E2A7-312E-021514DA8D69}"/>
              </a:ext>
            </a:extLst>
          </p:cNvPr>
          <p:cNvSpPr txBox="1"/>
          <p:nvPr/>
        </p:nvSpPr>
        <p:spPr>
          <a:xfrm>
            <a:off x="1149683" y="3669631"/>
            <a:ext cx="2981157" cy="6370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</a:pPr>
            <a:r>
              <a:rPr lang="hu-HU" sz="3200">
                <a:solidFill>
                  <a:srgbClr val="FFFEFF"/>
                </a:solidFill>
                <a:latin typeface="Bahnschrift"/>
              </a:rPr>
              <a:t>Összevonás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64EF6BB-5E72-7716-5B01-2D2798C4C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162" y="3640555"/>
            <a:ext cx="2563729" cy="6664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152994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77722A-EC43-8CBC-09DA-2598D9F96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400" err="1">
                <a:latin typeface="Bahnschrift SemiBold"/>
              </a:rPr>
              <a:t>Push</a:t>
            </a:r>
            <a:endParaRPr lang="hu-HU" sz="4400" err="1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396B7E-FE12-B074-41B8-52F0D728A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983" y="451117"/>
            <a:ext cx="6275035" cy="3794670"/>
          </a:xfrm>
        </p:spPr>
        <p:txBody>
          <a:bodyPr>
            <a:normAutofit/>
          </a:bodyPr>
          <a:lstStyle/>
          <a:p>
            <a:r>
              <a:rPr lang="hu-HU" sz="3200">
                <a:latin typeface="Bahnschrift"/>
              </a:rPr>
              <a:t>A helyi könyvtár feltöltése a GitHub projekt könyvtárába</a:t>
            </a:r>
          </a:p>
          <a:p>
            <a:r>
              <a:rPr lang="hu-HU" sz="3200">
                <a:latin typeface="Bahnschrift"/>
              </a:rPr>
              <a:t>Parancs: "</a:t>
            </a:r>
            <a:r>
              <a:rPr lang="hu-HU" sz="3200" err="1">
                <a:latin typeface="Bahnschrift"/>
              </a:rPr>
              <a:t>git</a:t>
            </a:r>
            <a:r>
              <a:rPr lang="hu-HU" sz="3200">
                <a:latin typeface="Bahnschrift"/>
              </a:rPr>
              <a:t> </a:t>
            </a:r>
            <a:r>
              <a:rPr lang="hu-HU" sz="3200" err="1">
                <a:latin typeface="Bahnschrift"/>
              </a:rPr>
              <a:t>push</a:t>
            </a:r>
            <a:r>
              <a:rPr lang="hu-HU" sz="3200">
                <a:latin typeface="Bahnschrift"/>
              </a:rPr>
              <a:t> </a:t>
            </a:r>
            <a:r>
              <a:rPr lang="hu-HU" sz="3200" err="1">
                <a:latin typeface="Bahnschrift"/>
              </a:rPr>
              <a:t>origin</a:t>
            </a:r>
            <a:r>
              <a:rPr lang="hu-HU" sz="3200">
                <a:latin typeface="Bahnschrift"/>
              </a:rPr>
              <a:t>"</a:t>
            </a:r>
            <a:endParaRPr lang="hu-HU" sz="3200"/>
          </a:p>
          <a:p>
            <a:endParaRPr lang="hu-HU" sz="320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E949E2C-9989-A5CA-D52E-7F4638AEA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3200">
                <a:latin typeface="Bahnschrift"/>
              </a:rPr>
              <a:t>Feltöltés</a:t>
            </a:r>
            <a:endParaRPr lang="hu-HU" sz="3200"/>
          </a:p>
        </p:txBody>
      </p:sp>
      <p:pic>
        <p:nvPicPr>
          <p:cNvPr id="7" name="Kép 6" descr="A képen szöveg, képernyőkép, szoftver, Betűtípus látható&#10;&#10;Automatikusan generált leírás">
            <a:extLst>
              <a:ext uri="{FF2B5EF4-FFF2-40B4-BE49-F238E27FC236}">
                <a16:creationId xmlns:a16="http://schemas.microsoft.com/office/drawing/2014/main" id="{F09BDE7F-22CC-5091-DD13-07971E963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79" y="3232273"/>
            <a:ext cx="6573227" cy="256222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52710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77722A-EC43-8CBC-09DA-2598D9F96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400" err="1">
                <a:latin typeface="Bahnschrift SemiBold"/>
              </a:rPr>
              <a:t>Pull</a:t>
            </a:r>
            <a:endParaRPr lang="hu-HU" sz="4400" err="1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396B7E-FE12-B074-41B8-52F0D728A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983" y="777688"/>
            <a:ext cx="6265139" cy="2320151"/>
          </a:xfrm>
        </p:spPr>
        <p:txBody>
          <a:bodyPr>
            <a:normAutofit/>
          </a:bodyPr>
          <a:lstStyle/>
          <a:p>
            <a:r>
              <a:rPr lang="hu-HU" sz="3200">
                <a:latin typeface="Bahnschrift"/>
              </a:rPr>
              <a:t>A GitHub projekt könyvtárából letölti a helyi könyvtárba</a:t>
            </a:r>
          </a:p>
          <a:p>
            <a:r>
              <a:rPr lang="hu-HU" sz="3200">
                <a:latin typeface="Bahnschrift"/>
              </a:rPr>
              <a:t>Parancs: "</a:t>
            </a:r>
            <a:r>
              <a:rPr lang="hu-HU" sz="3200" err="1">
                <a:latin typeface="Bahnschrift"/>
              </a:rPr>
              <a:t>git</a:t>
            </a:r>
            <a:r>
              <a:rPr lang="hu-HU" sz="3200">
                <a:latin typeface="Bahnschrift"/>
              </a:rPr>
              <a:t> </a:t>
            </a:r>
            <a:r>
              <a:rPr lang="hu-HU" sz="3200" err="1">
                <a:latin typeface="Bahnschrift"/>
              </a:rPr>
              <a:t>pull</a:t>
            </a:r>
            <a:r>
              <a:rPr lang="hu-HU" sz="3200">
                <a:latin typeface="Bahnschrift"/>
              </a:rPr>
              <a:t> </a:t>
            </a:r>
            <a:r>
              <a:rPr lang="hu-HU" sz="3200" err="1">
                <a:latin typeface="Bahnschrift"/>
              </a:rPr>
              <a:t>origin</a:t>
            </a:r>
            <a:r>
              <a:rPr lang="hu-HU" sz="3200">
                <a:latin typeface="Bahnschrift"/>
              </a:rPr>
              <a:t>"</a:t>
            </a:r>
            <a:endParaRPr lang="hu-HU" sz="3200"/>
          </a:p>
          <a:p>
            <a:endParaRPr lang="hu-HU" sz="320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E949E2C-9989-A5CA-D52E-7F4638AEA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3200">
                <a:latin typeface="Bahnschrift"/>
              </a:rPr>
              <a:t>Letöltés</a:t>
            </a:r>
            <a:endParaRPr lang="hu-HU" sz="3200"/>
          </a:p>
        </p:txBody>
      </p:sp>
      <p:pic>
        <p:nvPicPr>
          <p:cNvPr id="5" name="Kép 4" descr="A képen szöveg, képernyőkép, Betűtípus, szoftver látható&#10;&#10;Automatikusan generált leírás">
            <a:extLst>
              <a:ext uri="{FF2B5EF4-FFF2-40B4-BE49-F238E27FC236}">
                <a16:creationId xmlns:a16="http://schemas.microsoft.com/office/drawing/2014/main" id="{5E3CBA28-561E-FF93-8258-6E80E029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580" y="3088903"/>
            <a:ext cx="6263299" cy="231457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403850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Források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hlinkClick r:id="rId2"/>
              </a:rPr>
              <a:t>https://hu.wikipedia.org/wiki/Linus_Torvalds</a:t>
            </a:r>
            <a:r>
              <a:rPr lang="hu-HU" dirty="0"/>
              <a:t> | 2. Dia</a:t>
            </a:r>
          </a:p>
          <a:p>
            <a:r>
              <a:rPr lang="hu-HU" dirty="0">
                <a:latin typeface="Bahnschrift"/>
                <a:hlinkClick r:id="rId3"/>
              </a:rPr>
              <a:t>https://www.w3schools.com/git/git_getstarted.asp</a:t>
            </a:r>
            <a:r>
              <a:rPr lang="hu-HU" dirty="0">
                <a:latin typeface="Bahnschrift"/>
              </a:rPr>
              <a:t> | 4, 6, 9, 11, 12 Dia</a:t>
            </a:r>
          </a:p>
          <a:p>
            <a:endParaRPr lang="hu-HU" dirty="0">
              <a:latin typeface="Bahnschrift"/>
            </a:endParaRP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88631" y="3575324"/>
            <a:ext cx="3501197" cy="1226025"/>
          </a:xfrm>
        </p:spPr>
        <p:txBody>
          <a:bodyPr/>
          <a:lstStyle/>
          <a:p>
            <a:r>
              <a:rPr lang="hu-HU"/>
              <a:t>Letöltés ideje</a:t>
            </a:r>
          </a:p>
          <a:p>
            <a:r>
              <a:rPr lang="hu-HU"/>
              <a:t>2024.10.21.</a:t>
            </a:r>
          </a:p>
        </p:txBody>
      </p:sp>
    </p:spTree>
    <p:extLst>
      <p:ext uri="{BB962C8B-B14F-4D97-AF65-F5344CB8AC3E}">
        <p14:creationId xmlns:p14="http://schemas.microsoft.com/office/powerpoint/2010/main" val="3317459765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Atlasz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TM16401371[[fn=Atlasz]]</Template>
  <TotalTime>0</TotalTime>
  <Words>223</Words>
  <Application>Microsoft Office PowerPoint</Application>
  <PresentationFormat>Szélesvásznú</PresentationFormat>
  <Paragraphs>43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Bahnschrift</vt:lpstr>
      <vt:lpstr>Bahnschrift SemiBold</vt:lpstr>
      <vt:lpstr>Rockwell</vt:lpstr>
      <vt:lpstr>Wingdings</vt:lpstr>
      <vt:lpstr>Atlasz</vt:lpstr>
      <vt:lpstr>A Git használata</vt:lpstr>
      <vt:lpstr>Mi az a Git?</vt:lpstr>
      <vt:lpstr>Alapfogalmak</vt:lpstr>
      <vt:lpstr>Repository</vt:lpstr>
      <vt:lpstr>Commit</vt:lpstr>
      <vt:lpstr>Branch I.</vt:lpstr>
      <vt:lpstr>Branch II.</vt:lpstr>
      <vt:lpstr>További parancsok</vt:lpstr>
      <vt:lpstr>Clone</vt:lpstr>
      <vt:lpstr>Merge </vt:lpstr>
      <vt:lpstr>Push</vt:lpstr>
      <vt:lpstr>Pull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Git használata</dc:title>
  <dc:creator>Faddi Ede</dc:creator>
  <cp:lastModifiedBy>Orbán Péter</cp:lastModifiedBy>
  <cp:revision>5</cp:revision>
  <dcterms:created xsi:type="dcterms:W3CDTF">2024-10-15T09:57:17Z</dcterms:created>
  <dcterms:modified xsi:type="dcterms:W3CDTF">2024-10-22T08:11:35Z</dcterms:modified>
</cp:coreProperties>
</file>